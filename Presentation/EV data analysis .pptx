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1119" r:id="rId2"/>
    <p:sldId id="1562" r:id="rId3"/>
    <p:sldId id="1563" r:id="rId4"/>
    <p:sldId id="1564" r:id="rId5"/>
    <p:sldId id="1565" r:id="rId6"/>
    <p:sldId id="1566" r:id="rId7"/>
    <p:sldId id="1567" r:id="rId8"/>
    <p:sldId id="1568" r:id="rId9"/>
    <p:sldId id="1570" r:id="rId10"/>
    <p:sldId id="1571" r:id="rId11"/>
    <p:sldId id="1572" r:id="rId12"/>
    <p:sldId id="1573" r:id="rId13"/>
    <p:sldId id="1574" r:id="rId14"/>
    <p:sldId id="1575" r:id="rId15"/>
    <p:sldId id="1576" r:id="rId16"/>
    <p:sldId id="1577" r:id="rId17"/>
    <p:sldId id="1578" r:id="rId18"/>
    <p:sldId id="1579" r:id="rId19"/>
    <p:sldId id="1580" r:id="rId20"/>
    <p:sldId id="1581" r:id="rId21"/>
    <p:sldId id="1582" r:id="rId22"/>
    <p:sldId id="1583" r:id="rId23"/>
    <p:sldId id="1584" r:id="rId24"/>
    <p:sldId id="1585" r:id="rId25"/>
    <p:sldId id="1586" r:id="rId26"/>
    <p:sldId id="1587" r:id="rId27"/>
    <p:sldId id="1588" r:id="rId28"/>
    <p:sldId id="30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26" autoAdjust="0"/>
  </p:normalViewPr>
  <p:slideViewPr>
    <p:cSldViewPr snapToGrid="0">
      <p:cViewPr varScale="1">
        <p:scale>
          <a:sx n="59" d="100"/>
          <a:sy n="59" d="100"/>
        </p:scale>
        <p:origin x="130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 Mouli Kotta kota" userId="5fe5cc5c0dc36bb4" providerId="LiveId" clId="{AF510240-E2B3-4173-97EA-0549470BF6C3}"/>
    <pc:docChg chg="modSld">
      <pc:chgData name="Chandra Mouli Kotta kota" userId="5fe5cc5c0dc36bb4" providerId="LiveId" clId="{AF510240-E2B3-4173-97EA-0549470BF6C3}" dt="2025-06-19T11:50:38.028" v="4" actId="20577"/>
      <pc:docMkLst>
        <pc:docMk/>
      </pc:docMkLst>
      <pc:sldChg chg="modSp mod">
        <pc:chgData name="Chandra Mouli Kotta kota" userId="5fe5cc5c0dc36bb4" providerId="LiveId" clId="{AF510240-E2B3-4173-97EA-0549470BF6C3}" dt="2025-06-19T11:50:38.028" v="4" actId="20577"/>
        <pc:sldMkLst>
          <pc:docMk/>
          <pc:sldMk cId="3071345316" sldId="1119"/>
        </pc:sldMkLst>
        <pc:spChg chg="mod">
          <ac:chgData name="Chandra Mouli Kotta kota" userId="5fe5cc5c0dc36bb4" providerId="LiveId" clId="{AF510240-E2B3-4173-97EA-0549470BF6C3}" dt="2025-06-19T11:50:38.028" v="4" actId="20577"/>
          <ac:spMkLst>
            <pc:docMk/>
            <pc:sldMk cId="3071345316" sldId="1119"/>
            <ac:spMk id="2" creationId="{566CF642-B155-3EAA-0E23-97793C0E3936}"/>
          </ac:spMkLst>
        </pc:spChg>
      </pc:sldChg>
    </pc:docChg>
  </pc:docChgLst>
  <pc:docChgLst>
    <pc:chgData name="Chandra Mouli Kotta kota" userId="5fe5cc5c0dc36bb4" providerId="LiveId" clId="{FBBFCDCC-E222-47BB-B53E-A36211211E46}"/>
    <pc:docChg chg="undo custSel addSld delSld modSld modMainMaster">
      <pc:chgData name="Chandra Mouli Kotta kota" userId="5fe5cc5c0dc36bb4" providerId="LiveId" clId="{FBBFCDCC-E222-47BB-B53E-A36211211E46}" dt="2025-06-09T07:16:43.868" v="150" actId="1076"/>
      <pc:docMkLst>
        <pc:docMk/>
      </pc:docMkLst>
      <pc:sldChg chg="delSp mod">
        <pc:chgData name="Chandra Mouli Kotta kota" userId="5fe5cc5c0dc36bb4" providerId="LiveId" clId="{FBBFCDCC-E222-47BB-B53E-A36211211E46}" dt="2025-06-09T07:06:28.861" v="4" actId="478"/>
        <pc:sldMkLst>
          <pc:docMk/>
          <pc:sldMk cId="3656772840" sldId="301"/>
        </pc:sldMkLst>
      </pc:sldChg>
      <pc:sldChg chg="modSp add mod">
        <pc:chgData name="Chandra Mouli Kotta kota" userId="5fe5cc5c0dc36bb4" providerId="LiveId" clId="{FBBFCDCC-E222-47BB-B53E-A36211211E46}" dt="2025-06-09T07:16:43.868" v="150" actId="1076"/>
        <pc:sldMkLst>
          <pc:docMk/>
          <pc:sldMk cId="2694837450" sldId="699"/>
        </pc:sldMkLst>
        <pc:spChg chg="mod">
          <ac:chgData name="Chandra Mouli Kotta kota" userId="5fe5cc5c0dc36bb4" providerId="LiveId" clId="{FBBFCDCC-E222-47BB-B53E-A36211211E46}" dt="2025-06-09T07:16:15.986" v="148" actId="207"/>
          <ac:spMkLst>
            <pc:docMk/>
            <pc:sldMk cId="2694837450" sldId="699"/>
            <ac:spMk id="16" creationId="{00000000-0000-0000-0000-000000000000}"/>
          </ac:spMkLst>
        </pc:spChg>
        <pc:spChg chg="mod">
          <ac:chgData name="Chandra Mouli Kotta kota" userId="5fe5cc5c0dc36bb4" providerId="LiveId" clId="{FBBFCDCC-E222-47BB-B53E-A36211211E46}" dt="2025-06-09T07:15:46.025" v="144" actId="207"/>
          <ac:spMkLst>
            <pc:docMk/>
            <pc:sldMk cId="2694837450" sldId="699"/>
            <ac:spMk id="4104" creationId="{00000000-0000-0000-0000-000000000000}"/>
          </ac:spMkLst>
        </pc:spChg>
        <pc:spChg chg="mod">
          <ac:chgData name="Chandra Mouli Kotta kota" userId="5fe5cc5c0dc36bb4" providerId="LiveId" clId="{FBBFCDCC-E222-47BB-B53E-A36211211E46}" dt="2025-06-09T07:16:01.759" v="147" actId="207"/>
          <ac:spMkLst>
            <pc:docMk/>
            <pc:sldMk cId="2694837450" sldId="699"/>
            <ac:spMk id="4107" creationId="{00000000-0000-0000-0000-000000000000}"/>
          </ac:spMkLst>
        </pc:spChg>
        <pc:spChg chg="mod">
          <ac:chgData name="Chandra Mouli Kotta kota" userId="5fe5cc5c0dc36bb4" providerId="LiveId" clId="{FBBFCDCC-E222-47BB-B53E-A36211211E46}" dt="2025-06-09T07:14:45.024" v="138" actId="1076"/>
          <ac:spMkLst>
            <pc:docMk/>
            <pc:sldMk cId="2694837450" sldId="699"/>
            <ac:spMk id="4108" creationId="{00000000-0000-0000-0000-000000000000}"/>
          </ac:spMkLst>
        </pc:spChg>
        <pc:spChg chg="mod">
          <ac:chgData name="Chandra Mouli Kotta kota" userId="5fe5cc5c0dc36bb4" providerId="LiveId" clId="{FBBFCDCC-E222-47BB-B53E-A36211211E46}" dt="2025-06-09T07:16:43.868" v="150" actId="1076"/>
          <ac:spMkLst>
            <pc:docMk/>
            <pc:sldMk cId="2694837450" sldId="699"/>
            <ac:spMk id="4109" creationId="{00000000-0000-0000-0000-000000000000}"/>
          </ac:spMkLst>
        </pc:spChg>
      </pc:sldChg>
      <pc:sldChg chg="addSp delSp modSp mod">
        <pc:chgData name="Chandra Mouli Kotta kota" userId="5fe5cc5c0dc36bb4" providerId="LiveId" clId="{FBBFCDCC-E222-47BB-B53E-A36211211E46}" dt="2025-06-09T07:09:17" v="77" actId="1076"/>
        <pc:sldMkLst>
          <pc:docMk/>
          <pc:sldMk cId="3071345316" sldId="1119"/>
        </pc:sldMkLst>
        <pc:spChg chg="add del mod">
          <ac:chgData name="Chandra Mouli Kotta kota" userId="5fe5cc5c0dc36bb4" providerId="LiveId" clId="{FBBFCDCC-E222-47BB-B53E-A36211211E46}" dt="2025-06-09T07:09:17" v="77" actId="1076"/>
          <ac:spMkLst>
            <pc:docMk/>
            <pc:sldMk cId="3071345316" sldId="1119"/>
            <ac:spMk id="2" creationId="{566CF642-B155-3EAA-0E23-97793C0E3936}"/>
          </ac:spMkLst>
        </pc:spChg>
      </pc:sldChg>
      <pc:sldChg chg="addSp delSp modSp mod">
        <pc:chgData name="Chandra Mouli Kotta kota" userId="5fe5cc5c0dc36bb4" providerId="LiveId" clId="{FBBFCDCC-E222-47BB-B53E-A36211211E46}" dt="2025-06-09T07:10:31.264" v="94" actId="20577"/>
        <pc:sldMkLst>
          <pc:docMk/>
          <pc:sldMk cId="2708497484" sldId="1496"/>
        </pc:sldMkLst>
        <pc:spChg chg="add mod">
          <ac:chgData name="Chandra Mouli Kotta kota" userId="5fe5cc5c0dc36bb4" providerId="LiveId" clId="{FBBFCDCC-E222-47BB-B53E-A36211211E46}" dt="2025-06-09T07:10:31.264" v="94" actId="20577"/>
          <ac:spMkLst>
            <pc:docMk/>
            <pc:sldMk cId="2708497484" sldId="1496"/>
            <ac:spMk id="5" creationId="{7803B91D-5C02-48C0-DF6E-84767A9F9558}"/>
          </ac:spMkLst>
        </pc:spChg>
      </pc:sldChg>
      <pc:sldChg chg="del">
        <pc:chgData name="Chandra Mouli Kotta kota" userId="5fe5cc5c0dc36bb4" providerId="LiveId" clId="{FBBFCDCC-E222-47BB-B53E-A36211211E46}" dt="2025-06-09T07:06:09.840" v="0" actId="47"/>
        <pc:sldMkLst>
          <pc:docMk/>
          <pc:sldMk cId="4148693392" sldId="1497"/>
        </pc:sldMkLst>
      </pc:sldChg>
      <pc:sldChg chg="del">
        <pc:chgData name="Chandra Mouli Kotta kota" userId="5fe5cc5c0dc36bb4" providerId="LiveId" clId="{FBBFCDCC-E222-47BB-B53E-A36211211E46}" dt="2025-06-09T07:06:09.840" v="0" actId="47"/>
        <pc:sldMkLst>
          <pc:docMk/>
          <pc:sldMk cId="3523114206" sldId="1504"/>
        </pc:sldMkLst>
      </pc:sldChg>
      <pc:sldChg chg="del">
        <pc:chgData name="Chandra Mouli Kotta kota" userId="5fe5cc5c0dc36bb4" providerId="LiveId" clId="{FBBFCDCC-E222-47BB-B53E-A36211211E46}" dt="2025-06-09T07:06:09.840" v="0" actId="47"/>
        <pc:sldMkLst>
          <pc:docMk/>
          <pc:sldMk cId="1052189437" sldId="1722"/>
        </pc:sldMkLst>
      </pc:sldChg>
      <pc:sldChg chg="del">
        <pc:chgData name="Chandra Mouli Kotta kota" userId="5fe5cc5c0dc36bb4" providerId="LiveId" clId="{FBBFCDCC-E222-47BB-B53E-A36211211E46}" dt="2025-06-09T07:06:09.840" v="0" actId="47"/>
        <pc:sldMkLst>
          <pc:docMk/>
          <pc:sldMk cId="1971513023" sldId="1723"/>
        </pc:sldMkLst>
      </pc:sldChg>
      <pc:sldChg chg="del">
        <pc:chgData name="Chandra Mouli Kotta kota" userId="5fe5cc5c0dc36bb4" providerId="LiveId" clId="{FBBFCDCC-E222-47BB-B53E-A36211211E46}" dt="2025-06-09T07:06:09.840" v="0" actId="47"/>
        <pc:sldMkLst>
          <pc:docMk/>
          <pc:sldMk cId="3993323865" sldId="1724"/>
        </pc:sldMkLst>
      </pc:sldChg>
      <pc:sldMasterChg chg="delSp mod setBg modSldLayout">
        <pc:chgData name="Chandra Mouli Kotta kota" userId="5fe5cc5c0dc36bb4" providerId="LiveId" clId="{FBBFCDCC-E222-47BB-B53E-A36211211E46}" dt="2025-06-09T07:10:44.416" v="96" actId="478"/>
        <pc:sldMasterMkLst>
          <pc:docMk/>
          <pc:sldMasterMk cId="109456712" sldId="2147483660"/>
        </pc:sldMasterMkLst>
        <pc:sldLayoutChg chg="addSp delSp modSp mod">
          <pc:chgData name="Chandra Mouli Kotta kota" userId="5fe5cc5c0dc36bb4" providerId="LiveId" clId="{FBBFCDCC-E222-47BB-B53E-A36211211E46}" dt="2025-06-09T07:08:43.170" v="36" actId="14100"/>
          <pc:sldLayoutMkLst>
            <pc:docMk/>
            <pc:sldMasterMk cId="109456712" sldId="2147483660"/>
            <pc:sldLayoutMk cId="3918365627" sldId="2147483661"/>
          </pc:sldLayoutMkLst>
          <pc:spChg chg="add mod">
            <ac:chgData name="Chandra Mouli Kotta kota" userId="5fe5cc5c0dc36bb4" providerId="LiveId" clId="{FBBFCDCC-E222-47BB-B53E-A36211211E46}" dt="2025-06-09T07:08:14.842" v="28" actId="1076"/>
            <ac:spMkLst>
              <pc:docMk/>
              <pc:sldMasterMk cId="109456712" sldId="2147483660"/>
              <pc:sldLayoutMk cId="3918365627" sldId="2147483661"/>
              <ac:spMk id="10" creationId="{41D13BBF-8BF9-58E8-2D48-8C25E8436E1D}"/>
            </ac:spMkLst>
          </pc:spChg>
          <pc:spChg chg="add mod">
            <ac:chgData name="Chandra Mouli Kotta kota" userId="5fe5cc5c0dc36bb4" providerId="LiveId" clId="{FBBFCDCC-E222-47BB-B53E-A36211211E46}" dt="2025-06-09T07:08:43.170" v="36" actId="14100"/>
            <ac:spMkLst>
              <pc:docMk/>
              <pc:sldMasterMk cId="109456712" sldId="2147483660"/>
              <pc:sldLayoutMk cId="3918365627" sldId="2147483661"/>
              <ac:spMk id="12" creationId="{E6481E89-02DE-7518-CF7A-DC982067B7A2}"/>
            </ac:spMkLst>
          </pc:spChg>
          <pc:picChg chg="add mod">
            <ac:chgData name="Chandra Mouli Kotta kota" userId="5fe5cc5c0dc36bb4" providerId="LiveId" clId="{FBBFCDCC-E222-47BB-B53E-A36211211E46}" dt="2025-06-09T07:08:18.565" v="30" actId="14100"/>
            <ac:picMkLst>
              <pc:docMk/>
              <pc:sldMasterMk cId="109456712" sldId="2147483660"/>
              <pc:sldLayoutMk cId="3918365627" sldId="2147483661"/>
              <ac:picMk id="3" creationId="{03AD558F-750C-7F7A-EF36-7477B28E6647}"/>
            </ac:picMkLst>
          </pc:picChg>
        </pc:sldLayoutChg>
        <pc:sldLayoutChg chg="delSp mod">
          <pc:chgData name="Chandra Mouli Kotta kota" userId="5fe5cc5c0dc36bb4" providerId="LiveId" clId="{FBBFCDCC-E222-47BB-B53E-A36211211E46}" dt="2025-06-09T07:07:25.672" v="14" actId="478"/>
          <pc:sldLayoutMkLst>
            <pc:docMk/>
            <pc:sldMasterMk cId="109456712" sldId="2147483660"/>
            <pc:sldLayoutMk cId="3313620054" sldId="2147483662"/>
          </pc:sldLayoutMkLst>
        </pc:sldLayoutChg>
        <pc:sldLayoutChg chg="delSp mod">
          <pc:chgData name="Chandra Mouli Kotta kota" userId="5fe5cc5c0dc36bb4" providerId="LiveId" clId="{FBBFCDCC-E222-47BB-B53E-A36211211E46}" dt="2025-06-09T07:07:29.465" v="15" actId="478"/>
          <pc:sldLayoutMkLst>
            <pc:docMk/>
            <pc:sldMasterMk cId="109456712" sldId="2147483660"/>
            <pc:sldLayoutMk cId="3499187656" sldId="2147483663"/>
          </pc:sldLayoutMkLst>
        </pc:sldLayoutChg>
        <pc:sldLayoutChg chg="delSp mod">
          <pc:chgData name="Chandra Mouli Kotta kota" userId="5fe5cc5c0dc36bb4" providerId="LiveId" clId="{FBBFCDCC-E222-47BB-B53E-A36211211E46}" dt="2025-06-09T07:07:31.437" v="16" actId="478"/>
          <pc:sldLayoutMkLst>
            <pc:docMk/>
            <pc:sldMasterMk cId="109456712" sldId="2147483660"/>
            <pc:sldLayoutMk cId="3228013749" sldId="2147483664"/>
          </pc:sldLayoutMkLst>
        </pc:sldLayoutChg>
        <pc:sldLayoutChg chg="delSp mod">
          <pc:chgData name="Chandra Mouli Kotta kota" userId="5fe5cc5c0dc36bb4" providerId="LiveId" clId="{FBBFCDCC-E222-47BB-B53E-A36211211E46}" dt="2025-06-09T07:07:33.128" v="17" actId="478"/>
          <pc:sldLayoutMkLst>
            <pc:docMk/>
            <pc:sldMasterMk cId="109456712" sldId="2147483660"/>
            <pc:sldLayoutMk cId="2061382611" sldId="2147483665"/>
          </pc:sldLayoutMkLst>
        </pc:sldLayoutChg>
        <pc:sldLayoutChg chg="delSp mod">
          <pc:chgData name="Chandra Mouli Kotta kota" userId="5fe5cc5c0dc36bb4" providerId="LiveId" clId="{FBBFCDCC-E222-47BB-B53E-A36211211E46}" dt="2025-06-09T07:10:39.905" v="95" actId="478"/>
          <pc:sldLayoutMkLst>
            <pc:docMk/>
            <pc:sldMasterMk cId="109456712" sldId="2147483660"/>
            <pc:sldLayoutMk cId="2932584646" sldId="2147483666"/>
          </pc:sldLayoutMkLst>
        </pc:sldLayoutChg>
        <pc:sldLayoutChg chg="delSp mod">
          <pc:chgData name="Chandra Mouli Kotta kota" userId="5fe5cc5c0dc36bb4" providerId="LiveId" clId="{FBBFCDCC-E222-47BB-B53E-A36211211E46}" dt="2025-06-09T07:07:36.269" v="18" actId="478"/>
          <pc:sldLayoutMkLst>
            <pc:docMk/>
            <pc:sldMasterMk cId="109456712" sldId="2147483660"/>
            <pc:sldLayoutMk cId="3416484042" sldId="2147483667"/>
          </pc:sldLayoutMkLst>
        </pc:sldLayoutChg>
        <pc:sldLayoutChg chg="delSp mod">
          <pc:chgData name="Chandra Mouli Kotta kota" userId="5fe5cc5c0dc36bb4" providerId="LiveId" clId="{FBBFCDCC-E222-47BB-B53E-A36211211E46}" dt="2025-06-09T07:07:38.370" v="19" actId="478"/>
          <pc:sldLayoutMkLst>
            <pc:docMk/>
            <pc:sldMasterMk cId="109456712" sldId="2147483660"/>
            <pc:sldLayoutMk cId="1265085532" sldId="2147483668"/>
          </pc:sldLayoutMkLst>
        </pc:sldLayoutChg>
        <pc:sldLayoutChg chg="delSp mod">
          <pc:chgData name="Chandra Mouli Kotta kota" userId="5fe5cc5c0dc36bb4" providerId="LiveId" clId="{FBBFCDCC-E222-47BB-B53E-A36211211E46}" dt="2025-06-09T07:07:41.069" v="20" actId="478"/>
          <pc:sldLayoutMkLst>
            <pc:docMk/>
            <pc:sldMasterMk cId="109456712" sldId="2147483660"/>
            <pc:sldLayoutMk cId="836081883" sldId="2147483669"/>
          </pc:sldLayoutMkLst>
        </pc:sldLayoutChg>
        <pc:sldLayoutChg chg="delSp mod">
          <pc:chgData name="Chandra Mouli Kotta kota" userId="5fe5cc5c0dc36bb4" providerId="LiveId" clId="{FBBFCDCC-E222-47BB-B53E-A36211211E46}" dt="2025-06-09T07:07:42.956" v="21" actId="478"/>
          <pc:sldLayoutMkLst>
            <pc:docMk/>
            <pc:sldMasterMk cId="109456712" sldId="2147483660"/>
            <pc:sldLayoutMk cId="1560623489" sldId="2147483670"/>
          </pc:sldLayoutMkLst>
        </pc:sldLayoutChg>
        <pc:sldLayoutChg chg="delSp mod">
          <pc:chgData name="Chandra Mouli Kotta kota" userId="5fe5cc5c0dc36bb4" providerId="LiveId" clId="{FBBFCDCC-E222-47BB-B53E-A36211211E46}" dt="2025-06-09T07:10:44.416" v="96" actId="478"/>
          <pc:sldLayoutMkLst>
            <pc:docMk/>
            <pc:sldMasterMk cId="109456712" sldId="2147483660"/>
            <pc:sldLayoutMk cId="871137606" sldId="2147483671"/>
          </pc:sldLayoutMkLst>
        </pc:sldLayoutChg>
        <pc:sldLayoutChg chg="delSp mod">
          <pc:chgData name="Chandra Mouli Kotta kota" userId="5fe5cc5c0dc36bb4" providerId="LiveId" clId="{FBBFCDCC-E222-47BB-B53E-A36211211E46}" dt="2025-06-09T07:08:25.590" v="32" actId="478"/>
          <pc:sldLayoutMkLst>
            <pc:docMk/>
            <pc:sldMasterMk cId="109456712" sldId="2147483660"/>
            <pc:sldLayoutMk cId="656193189" sldId="2147483672"/>
          </pc:sldLayoutMkLst>
        </pc:sldLayoutChg>
        <pc:sldLayoutChg chg="delSp mod">
          <pc:chgData name="Chandra Mouli Kotta kota" userId="5fe5cc5c0dc36bb4" providerId="LiveId" clId="{FBBFCDCC-E222-47BB-B53E-A36211211E46}" dt="2025-06-09T07:08:30.354" v="33" actId="478"/>
          <pc:sldLayoutMkLst>
            <pc:docMk/>
            <pc:sldMasterMk cId="109456712" sldId="2147483660"/>
            <pc:sldLayoutMk cId="830446849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0CC006-918B-4EE6-BB6F-3F566251CFC8}"/>
              </a:ext>
            </a:extLst>
          </p:cNvPr>
          <p:cNvSpPr txBox="1"/>
          <p:nvPr/>
        </p:nvSpPr>
        <p:spPr>
          <a:xfrm>
            <a:off x="6816200" y="1524186"/>
            <a:ext cx="4741333" cy="477111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3600" u="sng" kern="0" dirty="0">
                <a:solidFill>
                  <a:srgbClr val="00589A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India EV market</a:t>
            </a:r>
          </a:p>
          <a:p>
            <a:pPr algn="ctr" defTabSz="1219170">
              <a:buClr>
                <a:srgbClr val="000000"/>
              </a:buClr>
            </a:pPr>
            <a:r>
              <a:rPr lang="en-IN" sz="3600" u="sng" kern="0" dirty="0">
                <a:solidFill>
                  <a:srgbClr val="00589A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( 2001- 2024 )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000" kern="0" dirty="0">
                <a:solidFill>
                  <a:srgbClr val="00589A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By : Athul Das P</a:t>
            </a:r>
          </a:p>
          <a:p>
            <a:pPr algn="ctr" defTabSz="1219170">
              <a:buClr>
                <a:srgbClr val="000000"/>
              </a:buClr>
            </a:pPr>
            <a:r>
              <a:rPr lang="en-IN" sz="2000" kern="0" dirty="0">
                <a:solidFill>
                  <a:srgbClr val="00589A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08/10/25</a:t>
            </a: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CFC8EF-5C40-4709-9E45-0F11BAF1CD71}"/>
              </a:ext>
            </a:extLst>
          </p:cNvPr>
          <p:cNvSpPr txBox="1"/>
          <p:nvPr/>
        </p:nvSpPr>
        <p:spPr>
          <a:xfrm>
            <a:off x="750318" y="624488"/>
            <a:ext cx="4741333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IN" sz="2667" b="1" u="sng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Business context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B327C-BFE2-4DB6-973C-E61726C85FC2}"/>
              </a:ext>
            </a:extLst>
          </p:cNvPr>
          <p:cNvSpPr txBox="1"/>
          <p:nvPr/>
        </p:nvSpPr>
        <p:spPr>
          <a:xfrm>
            <a:off x="750318" y="1127254"/>
            <a:ext cx="109336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India’s electric vehicle (EV) market is undergoing rapid growth driven by rising fuel costs, government incentives (FAME-II, State EV subsidies), expanding charging infrastructure, and increasing consumer adoption of two-wheelers and three-wheelers.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 manufacturers, policymakers, logistics companies, and investors are aggressively trying to understand: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  <a:t>Which segments (2W/3W/4W) are driving the EV boom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  <a:t>Which states and cities are leading adoption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  <a:t>Which OEMs (Ola Electric,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  <a:t>Ather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  <a:t>, Tata Motors, TVS, etc.) are dominating and how their shares change over time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  <a:t>How policy changes and new launches influence demand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  <a:t>How operational vehicles vs. registered vehicles differ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  <a:t>Category-wise market penetration: BEV, PHEV, HEV, E-rickshaw, cargo three-wheelers, etc.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 in the EV ecosystem—manufacturers, dealerships, chargers, fleet operators, last-mile logistics startups, and investors—depend on this type of analysis to make strategic decisions on product development, pricing, capacity expansion, and city-level rollout.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784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35A1D6-6954-4290-B50A-ED96CC151262}"/>
              </a:ext>
            </a:extLst>
          </p:cNvPr>
          <p:cNvSpPr txBox="1"/>
          <p:nvPr/>
        </p:nvSpPr>
        <p:spPr>
          <a:xfrm>
            <a:off x="750318" y="624488"/>
            <a:ext cx="4741333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IN" sz="2667" b="1" u="sng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Data dictionary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EB1313-AB7C-4F7C-9ABE-95A4BBAC95F9}"/>
              </a:ext>
            </a:extLst>
          </p:cNvPr>
          <p:cNvGraphicFramePr>
            <a:graphicFrameLocks noGrp="1"/>
          </p:cNvGraphicFramePr>
          <p:nvPr/>
        </p:nvGraphicFramePr>
        <p:xfrm>
          <a:off x="811409" y="1345967"/>
          <a:ext cx="10737588" cy="34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34706">
                  <a:extLst>
                    <a:ext uri="{9D8B030D-6E8A-4147-A177-3AD203B41FA5}">
                      <a16:colId xmlns:a16="http://schemas.microsoft.com/office/drawing/2014/main" val="635275524"/>
                    </a:ext>
                  </a:extLst>
                </a:gridCol>
                <a:gridCol w="3068877">
                  <a:extLst>
                    <a:ext uri="{9D8B030D-6E8A-4147-A177-3AD203B41FA5}">
                      <a16:colId xmlns:a16="http://schemas.microsoft.com/office/drawing/2014/main" val="2380660122"/>
                    </a:ext>
                  </a:extLst>
                </a:gridCol>
                <a:gridCol w="4334005">
                  <a:extLst>
                    <a:ext uri="{9D8B030D-6E8A-4147-A177-3AD203B41FA5}">
                      <a16:colId xmlns:a16="http://schemas.microsoft.com/office/drawing/2014/main" val="240024370"/>
                    </a:ext>
                  </a:extLst>
                </a:gridCol>
              </a:tblGrid>
              <a:tr h="4303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Table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Column names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9082763"/>
                  </a:ext>
                </a:extLst>
              </a:tr>
              <a:tr h="430327">
                <a:tc rowSpan="6"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Fact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FactCategoryID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Unique </a:t>
                      </a:r>
                      <a:r>
                        <a:rPr lang="en-US" sz="1600" dirty="0" err="1"/>
                        <a:t>id.Ensures</a:t>
                      </a:r>
                      <a:r>
                        <a:rPr lang="en-US" sz="1600" dirty="0"/>
                        <a:t> uniqueness of each row.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7690368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Full calendar date of registration record.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226006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Extracted year from the date column.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3271996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Rawcategory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Original vehicle class name as found in the input dataset.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1172417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Registrations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Number of vehicles registered for this category on this specific date.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656889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Category group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Standardized grouping for analysis (2W, 3W, 4W, Commercial, Other).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054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71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C8816D-6E64-44EB-84A4-BED358ABB8BF}"/>
              </a:ext>
            </a:extLst>
          </p:cNvPr>
          <p:cNvGraphicFramePr>
            <a:graphicFrameLocks noGrp="1"/>
          </p:cNvGraphicFramePr>
          <p:nvPr/>
        </p:nvGraphicFramePr>
        <p:xfrm>
          <a:off x="811409" y="1345967"/>
          <a:ext cx="10737588" cy="36074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34706">
                  <a:extLst>
                    <a:ext uri="{9D8B030D-6E8A-4147-A177-3AD203B41FA5}">
                      <a16:colId xmlns:a16="http://schemas.microsoft.com/office/drawing/2014/main" val="635275524"/>
                    </a:ext>
                  </a:extLst>
                </a:gridCol>
                <a:gridCol w="3068877">
                  <a:extLst>
                    <a:ext uri="{9D8B030D-6E8A-4147-A177-3AD203B41FA5}">
                      <a16:colId xmlns:a16="http://schemas.microsoft.com/office/drawing/2014/main" val="2380660122"/>
                    </a:ext>
                  </a:extLst>
                </a:gridCol>
                <a:gridCol w="4334005">
                  <a:extLst>
                    <a:ext uri="{9D8B030D-6E8A-4147-A177-3AD203B41FA5}">
                      <a16:colId xmlns:a16="http://schemas.microsoft.com/office/drawing/2014/main" val="240024370"/>
                    </a:ext>
                  </a:extLst>
                </a:gridCol>
              </a:tblGrid>
              <a:tr h="4303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Table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Column names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9082763"/>
                  </a:ext>
                </a:extLst>
              </a:tr>
              <a:tr h="430327">
                <a:tc rowSpan="6"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Fact maker 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Maker </a:t>
                      </a:r>
                      <a:r>
                        <a:rPr lang="en-US" sz="1600" dirty="0" err="1"/>
                        <a:t>salesID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Unique id for the fact table. Ensures each row is unique.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7690368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Maker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Name of the EV manufacturer.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226006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Raw category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Original category label from the source dataset (2W, 3W, LMV, HMV, etc.).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3271996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Year for which the sales value is reported.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1172417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Sales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Number of vehicles sold by the maker in that category for that year.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656889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Category group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Cleaned, standardized category used for analysis (2W, 3W, 4W, Commercial, Other).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054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882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F91BC8-CEB3-41A3-9BFB-5A32C46C58DC}"/>
              </a:ext>
            </a:extLst>
          </p:cNvPr>
          <p:cNvGraphicFramePr>
            <a:graphicFrameLocks noGrp="1"/>
          </p:cNvGraphicFramePr>
          <p:nvPr/>
        </p:nvGraphicFramePr>
        <p:xfrm>
          <a:off x="811409" y="1345967"/>
          <a:ext cx="10737588" cy="158856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34706">
                  <a:extLst>
                    <a:ext uri="{9D8B030D-6E8A-4147-A177-3AD203B41FA5}">
                      <a16:colId xmlns:a16="http://schemas.microsoft.com/office/drawing/2014/main" val="635275524"/>
                    </a:ext>
                  </a:extLst>
                </a:gridCol>
                <a:gridCol w="3068877">
                  <a:extLst>
                    <a:ext uri="{9D8B030D-6E8A-4147-A177-3AD203B41FA5}">
                      <a16:colId xmlns:a16="http://schemas.microsoft.com/office/drawing/2014/main" val="2380660122"/>
                    </a:ext>
                  </a:extLst>
                </a:gridCol>
                <a:gridCol w="4334005">
                  <a:extLst>
                    <a:ext uri="{9D8B030D-6E8A-4147-A177-3AD203B41FA5}">
                      <a16:colId xmlns:a16="http://schemas.microsoft.com/office/drawing/2014/main" val="240024370"/>
                    </a:ext>
                  </a:extLst>
                </a:gridCol>
              </a:tblGrid>
              <a:tr h="4303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Table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Column names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9082763"/>
                  </a:ext>
                </a:extLst>
              </a:tr>
              <a:tr h="430327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Category 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Raw category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The original category label exactly as it appears in the source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7690368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Category map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Standardized grouping assigned to each raw category.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226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55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7E0851-FA01-4C32-8F4E-130AB89620C5}"/>
              </a:ext>
            </a:extLst>
          </p:cNvPr>
          <p:cNvGraphicFramePr>
            <a:graphicFrameLocks noGrp="1"/>
          </p:cNvGraphicFramePr>
          <p:nvPr/>
        </p:nvGraphicFramePr>
        <p:xfrm>
          <a:off x="811409" y="1345967"/>
          <a:ext cx="10737588" cy="187010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34706">
                  <a:extLst>
                    <a:ext uri="{9D8B030D-6E8A-4147-A177-3AD203B41FA5}">
                      <a16:colId xmlns:a16="http://schemas.microsoft.com/office/drawing/2014/main" val="635275524"/>
                    </a:ext>
                  </a:extLst>
                </a:gridCol>
                <a:gridCol w="3068877">
                  <a:extLst>
                    <a:ext uri="{9D8B030D-6E8A-4147-A177-3AD203B41FA5}">
                      <a16:colId xmlns:a16="http://schemas.microsoft.com/office/drawing/2014/main" val="2380660122"/>
                    </a:ext>
                  </a:extLst>
                </a:gridCol>
                <a:gridCol w="4334005">
                  <a:extLst>
                    <a:ext uri="{9D8B030D-6E8A-4147-A177-3AD203B41FA5}">
                      <a16:colId xmlns:a16="http://schemas.microsoft.com/office/drawing/2014/main" val="240024370"/>
                    </a:ext>
                  </a:extLst>
                </a:gridCol>
              </a:tblGrid>
              <a:tr h="4303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Table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Column names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9082763"/>
                  </a:ext>
                </a:extLst>
              </a:tr>
              <a:tr h="430327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Dim maker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Maker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Name of the EV manufacturer.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7690368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Place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City or specific location where the maker has an operational unit or office.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226006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Indian state corresponding to the place.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3271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65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CB4AC4-DF63-4B92-9E8D-01F74E1E09F0}"/>
              </a:ext>
            </a:extLst>
          </p:cNvPr>
          <p:cNvGraphicFramePr>
            <a:graphicFrameLocks noGrp="1"/>
          </p:cNvGraphicFramePr>
          <p:nvPr/>
        </p:nvGraphicFramePr>
        <p:xfrm>
          <a:off x="811409" y="1345967"/>
          <a:ext cx="10737588" cy="302834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34706">
                  <a:extLst>
                    <a:ext uri="{9D8B030D-6E8A-4147-A177-3AD203B41FA5}">
                      <a16:colId xmlns:a16="http://schemas.microsoft.com/office/drawing/2014/main" val="635275524"/>
                    </a:ext>
                  </a:extLst>
                </a:gridCol>
                <a:gridCol w="3068877">
                  <a:extLst>
                    <a:ext uri="{9D8B030D-6E8A-4147-A177-3AD203B41FA5}">
                      <a16:colId xmlns:a16="http://schemas.microsoft.com/office/drawing/2014/main" val="2380660122"/>
                    </a:ext>
                  </a:extLst>
                </a:gridCol>
                <a:gridCol w="4334005">
                  <a:extLst>
                    <a:ext uri="{9D8B030D-6E8A-4147-A177-3AD203B41FA5}">
                      <a16:colId xmlns:a16="http://schemas.microsoft.com/office/drawing/2014/main" val="240024370"/>
                    </a:ext>
                  </a:extLst>
                </a:gridCol>
              </a:tblGrid>
              <a:tr h="4303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Table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Column names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9082763"/>
                  </a:ext>
                </a:extLst>
              </a:tr>
              <a:tr h="430327">
                <a:tc rowSpan="5"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Dim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State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primary key for the dimension table.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7690368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Name of the state.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226006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Maker count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Number of distinct EV makers present in the state.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3271996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Makers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Comma-separated list of EV makers operating in the state.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1172417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 of operational PCS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Total number of public charging stations in the state.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656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666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A6F225-5E6E-4588-A790-2E6836095AB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10737588" cy="158856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34706">
                  <a:extLst>
                    <a:ext uri="{9D8B030D-6E8A-4147-A177-3AD203B41FA5}">
                      <a16:colId xmlns:a16="http://schemas.microsoft.com/office/drawing/2014/main" val="3334466234"/>
                    </a:ext>
                  </a:extLst>
                </a:gridCol>
                <a:gridCol w="3068877">
                  <a:extLst>
                    <a:ext uri="{9D8B030D-6E8A-4147-A177-3AD203B41FA5}">
                      <a16:colId xmlns:a16="http://schemas.microsoft.com/office/drawing/2014/main" val="3906099780"/>
                    </a:ext>
                  </a:extLst>
                </a:gridCol>
                <a:gridCol w="4334005">
                  <a:extLst>
                    <a:ext uri="{9D8B030D-6E8A-4147-A177-3AD203B41FA5}">
                      <a16:colId xmlns:a16="http://schemas.microsoft.com/office/drawing/2014/main" val="961456283"/>
                    </a:ext>
                  </a:extLst>
                </a:gridCol>
              </a:tblGrid>
              <a:tr h="4303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Table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Column names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0074147"/>
                  </a:ext>
                </a:extLst>
              </a:tr>
              <a:tr h="430327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Maker state presence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Maker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Name of the EV manufacturer (canonicalized).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6390067"/>
                  </a:ext>
                </a:extLst>
              </a:tr>
              <a:tr h="43032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State in which the maker has presence (normalized).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31382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68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33D311E-2E3B-4DC3-BDC5-A03FF6A94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48" y="587002"/>
            <a:ext cx="1087810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sz="2667" b="1" u="sng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Table Relationship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B5DB9A-9692-4E70-9CCB-7AC0FEC60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6" y="1176041"/>
            <a:ext cx="10371909" cy="50049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4759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7DC3FA-74CA-42A7-BE27-1660026A4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48" y="587002"/>
            <a:ext cx="1087810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sz="2667" b="1" u="sng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Data checks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6D0C5-F1CB-4CCF-88FB-284821C681AF}"/>
              </a:ext>
            </a:extLst>
          </p:cNvPr>
          <p:cNvSpPr txBox="1"/>
          <p:nvPr/>
        </p:nvSpPr>
        <p:spPr>
          <a:xfrm>
            <a:off x="656948" y="1089768"/>
            <a:ext cx="1149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Fact category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2C173-9BFF-4FDD-8B14-EA96FE5D36F4}"/>
              </a:ext>
            </a:extLst>
          </p:cNvPr>
          <p:cNvSpPr txBox="1"/>
          <p:nvPr/>
        </p:nvSpPr>
        <p:spPr>
          <a:xfrm>
            <a:off x="656948" y="1592534"/>
            <a:ext cx="109898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Table inspection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of records      : 4528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            : Date, Year, Raw Category, Registrations, Category group.</a:t>
            </a:r>
          </a:p>
          <a:p>
            <a:r>
              <a:rPr lang="en-US" b="1" u="sng" dirty="0"/>
              <a:t>Data quality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date format issue</a:t>
            </a:r>
          </a:p>
          <a:p>
            <a:r>
              <a:rPr lang="en-US" b="1" u="sng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 ranges from 2001 to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16 raw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5 category groups.</a:t>
            </a:r>
          </a:p>
        </p:txBody>
      </p:sp>
    </p:spTree>
    <p:extLst>
      <p:ext uri="{BB962C8B-B14F-4D97-AF65-F5344CB8AC3E}">
        <p14:creationId xmlns:p14="http://schemas.microsoft.com/office/powerpoint/2010/main" val="264609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1834F8-655C-4C03-9B63-58A48D15AC24}"/>
              </a:ext>
            </a:extLst>
          </p:cNvPr>
          <p:cNvSpPr txBox="1"/>
          <p:nvPr/>
        </p:nvSpPr>
        <p:spPr>
          <a:xfrm>
            <a:off x="809530" y="717476"/>
            <a:ext cx="1149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Fact maker sales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11FBC2-2BCB-4E37-964A-FEF7419AF086}"/>
              </a:ext>
            </a:extLst>
          </p:cNvPr>
          <p:cNvSpPr txBox="1"/>
          <p:nvPr/>
        </p:nvSpPr>
        <p:spPr>
          <a:xfrm>
            <a:off x="809530" y="1260324"/>
            <a:ext cx="111883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Table inspection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of records      : 13860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             : maker sales id, maker, raw category, year, sales, category group</a:t>
            </a:r>
          </a:p>
          <a:p>
            <a:endParaRPr lang="en-US" dirty="0"/>
          </a:p>
          <a:p>
            <a:r>
              <a:rPr lang="en-US" b="1" u="sng" dirty="0"/>
              <a:t>Data quality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date format issue</a:t>
            </a:r>
          </a:p>
          <a:p>
            <a:endParaRPr lang="en-US" dirty="0"/>
          </a:p>
          <a:p>
            <a:r>
              <a:rPr lang="en-US" b="1" u="sng" dirty="0"/>
              <a:t>Insights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altLang="en-US" dirty="0">
                <a:latin typeface="Arial" panose="020B0604020202020204" pitchFamily="34" charset="0"/>
              </a:rPr>
              <a:t>Fact Maker Sales table is sourced from the EV sales by maker (2015–2024) dataset, which reports sales only at a high-level segment, unlike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detailed government registration dataset. </a:t>
            </a:r>
            <a:r>
              <a:rPr lang="en-US" altLang="en-US" dirty="0">
                <a:latin typeface="Arial" panose="020B0604020202020204" pitchFamily="34" charset="0"/>
              </a:rPr>
              <a:t>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the table only contains 4 raw categories. 2w,3w,lmv,mmv.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Year ranges from 2015 to 2024.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72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9200AA-246B-47CB-BB6D-C98BB9A233A9}"/>
              </a:ext>
            </a:extLst>
          </p:cNvPr>
          <p:cNvSpPr txBox="1"/>
          <p:nvPr/>
        </p:nvSpPr>
        <p:spPr>
          <a:xfrm>
            <a:off x="809530" y="717476"/>
            <a:ext cx="1149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Category 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6B1A4-AB99-49B6-9AF2-535BECE6295D}"/>
              </a:ext>
            </a:extLst>
          </p:cNvPr>
          <p:cNvSpPr txBox="1"/>
          <p:nvPr/>
        </p:nvSpPr>
        <p:spPr>
          <a:xfrm>
            <a:off x="809530" y="1260324"/>
            <a:ext cx="111883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Table inspection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of records      :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             : Raw category, category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Data quality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missing values</a:t>
            </a:r>
          </a:p>
          <a:p>
            <a:endParaRPr lang="en-US" dirty="0"/>
          </a:p>
          <a:p>
            <a:r>
              <a:rPr lang="en-US" b="1" u="sng" dirty="0"/>
              <a:t>Insights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are 20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5 category groups.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19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41380E-C2A1-4621-871D-F5397C4C36E4}"/>
              </a:ext>
            </a:extLst>
          </p:cNvPr>
          <p:cNvSpPr txBox="1"/>
          <p:nvPr/>
        </p:nvSpPr>
        <p:spPr>
          <a:xfrm>
            <a:off x="809530" y="717476"/>
            <a:ext cx="1149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Dim maker 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ACF456-F31A-49B9-B865-2960A68A3580}"/>
              </a:ext>
            </a:extLst>
          </p:cNvPr>
          <p:cNvSpPr txBox="1"/>
          <p:nvPr/>
        </p:nvSpPr>
        <p:spPr>
          <a:xfrm>
            <a:off x="809530" y="1260324"/>
            <a:ext cx="111883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Table inspection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of records      : 61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             :Maker, place,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Data quality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missing values</a:t>
            </a:r>
          </a:p>
          <a:p>
            <a:endParaRPr lang="en-US" dirty="0"/>
          </a:p>
          <a:p>
            <a:r>
              <a:rPr lang="en-US" b="1" u="sng" dirty="0"/>
              <a:t>Insights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are 61 makers.</a:t>
            </a:r>
          </a:p>
        </p:txBody>
      </p:sp>
    </p:spTree>
    <p:extLst>
      <p:ext uri="{BB962C8B-B14F-4D97-AF65-F5344CB8AC3E}">
        <p14:creationId xmlns:p14="http://schemas.microsoft.com/office/powerpoint/2010/main" val="2015843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120537-8BF4-42E8-8C5E-78C7E17AA84F}"/>
              </a:ext>
            </a:extLst>
          </p:cNvPr>
          <p:cNvSpPr txBox="1"/>
          <p:nvPr/>
        </p:nvSpPr>
        <p:spPr>
          <a:xfrm>
            <a:off x="809530" y="717476"/>
            <a:ext cx="1149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Dim state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30B83-61A6-4828-9991-8138FE37DFCA}"/>
              </a:ext>
            </a:extLst>
          </p:cNvPr>
          <p:cNvSpPr txBox="1"/>
          <p:nvPr/>
        </p:nvSpPr>
        <p:spPr>
          <a:xfrm>
            <a:off x="809530" y="1260324"/>
            <a:ext cx="111883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Table inspection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of records      : 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             : State id, state, maker count, makers list, no of operational PCs.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Data quality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missing values</a:t>
            </a:r>
          </a:p>
          <a:p>
            <a:endParaRPr lang="en-US" dirty="0"/>
          </a:p>
          <a:p>
            <a:r>
              <a:rPr lang="en-US" b="1" u="sng" dirty="0"/>
              <a:t>Insights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There are average 746 operational PCs per state.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65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5DFAE7-9A5B-4F8A-8B05-19380A60A088}"/>
              </a:ext>
            </a:extLst>
          </p:cNvPr>
          <p:cNvSpPr txBox="1"/>
          <p:nvPr/>
        </p:nvSpPr>
        <p:spPr>
          <a:xfrm>
            <a:off x="809530" y="717476"/>
            <a:ext cx="1149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Maker state presence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5F769-04FA-4F27-8728-0C271300742A}"/>
              </a:ext>
            </a:extLst>
          </p:cNvPr>
          <p:cNvSpPr txBox="1"/>
          <p:nvPr/>
        </p:nvSpPr>
        <p:spPr>
          <a:xfrm>
            <a:off x="809530" y="1260324"/>
            <a:ext cx="111883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Table inspection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of records      : 61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             : State id, state, maker count, makers list, no of operational PCs.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Data quality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missing values</a:t>
            </a:r>
          </a:p>
          <a:p>
            <a:endParaRPr lang="en-US" dirty="0"/>
          </a:p>
          <a:p>
            <a:r>
              <a:rPr lang="en-US" b="1" u="sng" dirty="0"/>
              <a:t>Insights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Dim Maker Location defines where each EV manufacturer is physically located, while Maker State Presence defines the states where the manufacturer operates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01847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FE6B43-EFE2-4A5B-8555-EEDFA94B8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48" y="587002"/>
            <a:ext cx="1087810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sz="2667" b="1" u="sng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Detailed EDA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AB9E5-06A7-4B08-8FAF-B2DCC2AC7D25}"/>
              </a:ext>
            </a:extLst>
          </p:cNvPr>
          <p:cNvSpPr txBox="1"/>
          <p:nvPr/>
        </p:nvSpPr>
        <p:spPr>
          <a:xfrm>
            <a:off x="656948" y="1089768"/>
            <a:ext cx="11493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Arial" panose="020B0604020202020204" pitchFamily="34" charset="0"/>
              </a:rPr>
              <a:t>Total sales all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number </a:t>
            </a:r>
            <a:r>
              <a:rPr lang="en-US" dirty="0" err="1"/>
              <a:t>ev’s</a:t>
            </a:r>
            <a:r>
              <a:rPr lang="en-US" dirty="0"/>
              <a:t> sold is 44,20,903</a:t>
            </a:r>
          </a:p>
          <a:p>
            <a:endParaRPr lang="en-US" dirty="0"/>
          </a:p>
          <a:p>
            <a:r>
              <a:rPr lang="en-US" b="1" u="sng" dirty="0">
                <a:latin typeface="Arial" panose="020B0604020202020204" pitchFamily="34" charset="0"/>
              </a:rPr>
              <a:t>Top 10 makers by cumulative sales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F081B-B59E-4F99-AC57-34578FC5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79" y="2385710"/>
            <a:ext cx="4786229" cy="296352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1291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CD9FC9-2355-4969-AEDF-A290A7112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48" y="653719"/>
            <a:ext cx="10878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b="1" u="sng" dirty="0">
                <a:latin typeface="Arial" panose="020B0604020202020204" pitchFamily="34" charset="0"/>
                <a:sym typeface="Arial"/>
              </a:rPr>
              <a:t>Sales by raw category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44C999-127F-4D95-8662-489C8C861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61" y="2788534"/>
            <a:ext cx="3596854" cy="27814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E41CDB-B80D-42DA-9EA7-F191C077C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47" y="2309413"/>
            <a:ext cx="10878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b="1" u="sng" dirty="0">
                <a:latin typeface="Arial" panose="020B0604020202020204" pitchFamily="34" charset="0"/>
                <a:sym typeface="Arial"/>
              </a:rPr>
              <a:t>Yearly total sales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663A47-4A18-4FD1-B0D8-1E2E1166EF87}"/>
              </a:ext>
            </a:extLst>
          </p:cNvPr>
          <p:cNvSpPr txBox="1"/>
          <p:nvPr/>
        </p:nvSpPr>
        <p:spPr>
          <a:xfrm>
            <a:off x="656948" y="1023051"/>
            <a:ext cx="67601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two wheeler has sold the most (22,79,448).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Mmv</a:t>
            </a:r>
            <a:r>
              <a:rPr lang="en-US" dirty="0"/>
              <a:t> has sold the least (884).</a:t>
            </a:r>
          </a:p>
          <a:p>
            <a:r>
              <a:rPr lang="en-US" sz="1200" dirty="0"/>
              <a:t>* mmv means mid weight commercial vehicles such as medium trucks and transport carriers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4629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13F819-1DDF-4F9C-BE56-8A9AB8A1B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63" y="666598"/>
            <a:ext cx="10878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b="1" u="sng" dirty="0">
                <a:latin typeface="Arial" panose="020B0604020202020204" pitchFamily="34" charset="0"/>
                <a:sym typeface="Arial"/>
              </a:rPr>
              <a:t>Best maker per year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18D51-1BC0-445D-B72A-A7BD8B1AA1FC}"/>
              </a:ext>
            </a:extLst>
          </p:cNvPr>
          <p:cNvSpPr txBox="1"/>
          <p:nvPr/>
        </p:nvSpPr>
        <p:spPr>
          <a:xfrm>
            <a:off x="708463" y="1035930"/>
            <a:ext cx="11188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Ola has been the best selling </a:t>
            </a:r>
            <a:r>
              <a:rPr lang="en-US" altLang="en-US" dirty="0" err="1">
                <a:latin typeface="Arial" panose="020B0604020202020204" pitchFamily="34" charset="0"/>
              </a:rPr>
              <a:t>ev</a:t>
            </a:r>
            <a:r>
              <a:rPr lang="en-US" altLang="en-US" dirty="0">
                <a:latin typeface="Arial" panose="020B0604020202020204" pitchFamily="34" charset="0"/>
              </a:rPr>
              <a:t> brand since 2022.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DE390F-CE74-43BC-A007-8BC0B0EB9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04" y="1510690"/>
            <a:ext cx="5651790" cy="284494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545E02-B273-4C25-9713-AFB46B5E165E}"/>
              </a:ext>
            </a:extLst>
          </p:cNvPr>
          <p:cNvSpPr txBox="1"/>
          <p:nvPr/>
        </p:nvSpPr>
        <p:spPr>
          <a:xfrm>
            <a:off x="708463" y="4610637"/>
            <a:ext cx="84753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b="1" u="sng" dirty="0">
                <a:latin typeface="Arial" panose="020B0604020202020204" pitchFamily="34" charset="0"/>
              </a:rPr>
              <a:t>Registrations by raw category</a:t>
            </a:r>
          </a:p>
          <a:p>
            <a:pPr marL="285750" indent="-285750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51% of the registered </a:t>
            </a:r>
            <a:r>
              <a:rPr lang="en-US" dirty="0" err="1">
                <a:latin typeface="Arial" panose="020B0604020202020204" pitchFamily="34" charset="0"/>
              </a:rPr>
              <a:t>ev</a:t>
            </a:r>
            <a:r>
              <a:rPr lang="en-US" dirty="0">
                <a:latin typeface="Arial" panose="020B0604020202020204" pitchFamily="34" charset="0"/>
              </a:rPr>
              <a:t> vehicles belong to the raw category two wheeler (NT).</a:t>
            </a:r>
          </a:p>
          <a:p>
            <a:pPr marL="285750" indent="-285750"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43% belongs to the raw category three wheeler (T).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158536-4AF5-4C4C-AFDB-AA254820D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242" y="2425112"/>
            <a:ext cx="5031662" cy="193052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9D1FABC5-469A-4EB6-9C5E-BBB2D058FD75}"/>
              </a:ext>
            </a:extLst>
          </p:cNvPr>
          <p:cNvSpPr/>
          <p:nvPr/>
        </p:nvSpPr>
        <p:spPr>
          <a:xfrm>
            <a:off x="9183860" y="4706542"/>
            <a:ext cx="850392" cy="731520"/>
          </a:xfrm>
          <a:prstGeom prst="bentUpArrow">
            <a:avLst>
              <a:gd name="adj1" fmla="val 6194"/>
              <a:gd name="adj2" fmla="val 1117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6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1EAA-FA2B-4A87-A1EB-71230574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63" y="666598"/>
            <a:ext cx="10878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b="1" u="sng" dirty="0">
                <a:latin typeface="Arial" panose="020B0604020202020204" pitchFamily="34" charset="0"/>
                <a:sym typeface="Arial"/>
              </a:rPr>
              <a:t>Makers per state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C4F64-F02C-4E35-B9B4-025171447F9C}"/>
              </a:ext>
            </a:extLst>
          </p:cNvPr>
          <p:cNvSpPr txBox="1"/>
          <p:nvPr/>
        </p:nvSpPr>
        <p:spPr>
          <a:xfrm>
            <a:off x="708463" y="1035930"/>
            <a:ext cx="111883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State of Maharashtra has the highest number of </a:t>
            </a:r>
            <a:r>
              <a:rPr lang="en-US" altLang="en-US" dirty="0" err="1">
                <a:latin typeface="Arial" panose="020B0604020202020204" pitchFamily="34" charset="0"/>
              </a:rPr>
              <a:t>ev</a:t>
            </a:r>
            <a:r>
              <a:rPr lang="en-US" altLang="en-US" dirty="0">
                <a:latin typeface="Arial" panose="020B0604020202020204" pitchFamily="34" charset="0"/>
              </a:rPr>
              <a:t> makers.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comes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tamilnadu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Pune (7), Bengaluru (6), Chennai (5) are the cities with highest no of </a:t>
            </a:r>
            <a:r>
              <a:rPr lang="en-US" altLang="en-US" dirty="0" err="1">
                <a:latin typeface="Arial" panose="020B0604020202020204" pitchFamily="34" charset="0"/>
              </a:rPr>
              <a:t>ev</a:t>
            </a:r>
            <a:r>
              <a:rPr lang="en-US" altLang="en-US" dirty="0">
                <a:latin typeface="Arial" panose="020B0604020202020204" pitchFamily="34" charset="0"/>
              </a:rPr>
              <a:t> makers.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en-US" b="1" u="sng" dirty="0">
                <a:latin typeface="Arial" panose="020B0604020202020204" pitchFamily="34" charset="0"/>
              </a:rPr>
              <a:t>Year over year growth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Ev</a:t>
            </a:r>
            <a:r>
              <a:rPr lang="en-US" altLang="en-US" dirty="0">
                <a:latin typeface="Arial" panose="020B0604020202020204" pitchFamily="34" charset="0"/>
              </a:rPr>
              <a:t> adoption accelerated sharply post 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highest YoY growth was observed in 2022.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37BA6-3C97-47F7-A093-E4D9AC5F6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18" y="3163986"/>
            <a:ext cx="5924967" cy="30128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1173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AAB4D9-6C22-4466-B356-65E0CCF50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63" y="666598"/>
            <a:ext cx="10878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b="1" u="sng" dirty="0">
                <a:latin typeface="Arial" panose="020B0604020202020204" pitchFamily="34" charset="0"/>
                <a:sym typeface="Arial"/>
              </a:rPr>
              <a:t>Dominant raw category per year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8985C8-76E6-48F8-BC0B-31421086EC42}"/>
              </a:ext>
            </a:extLst>
          </p:cNvPr>
          <p:cNvSpPr txBox="1"/>
          <p:nvPr/>
        </p:nvSpPr>
        <p:spPr>
          <a:xfrm>
            <a:off x="708463" y="1035930"/>
            <a:ext cx="11188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Early years show dominance of e-rickshaws.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2W </a:t>
            </a:r>
            <a:r>
              <a:rPr lang="en-US" altLang="en-US" dirty="0" err="1">
                <a:latin typeface="Arial" panose="020B0604020202020204" pitchFamily="34" charset="0"/>
              </a:rPr>
              <a:t>ev</a:t>
            </a:r>
            <a:r>
              <a:rPr lang="en-US" altLang="en-US" dirty="0">
                <a:latin typeface="Arial" panose="020B0604020202020204" pitchFamily="34" charset="0"/>
              </a:rPr>
              <a:t> adoption exploded after 2020.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Heavy /light passenger vehicles remain niche.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2D7F8-29DE-43CA-A602-FF5AA0003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548" y="666599"/>
            <a:ext cx="4369699" cy="259449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A66D7-265E-40BF-B1D7-9458F5F7F82B}"/>
              </a:ext>
            </a:extLst>
          </p:cNvPr>
          <p:cNvSpPr txBox="1"/>
          <p:nvPr/>
        </p:nvSpPr>
        <p:spPr>
          <a:xfrm>
            <a:off x="708463" y="2336686"/>
            <a:ext cx="50386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Arial" panose="020B0604020202020204" pitchFamily="34" charset="0"/>
              </a:rPr>
              <a:t>Sales concentration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A few makers dominate the </a:t>
            </a:r>
            <a:r>
              <a:rPr lang="en-US" dirty="0" err="1">
                <a:latin typeface="Arial" panose="020B0604020202020204" pitchFamily="34" charset="0"/>
              </a:rPr>
              <a:t>ev</a:t>
            </a:r>
            <a:r>
              <a:rPr lang="en-US" dirty="0">
                <a:latin typeface="Arial" panose="020B0604020202020204" pitchFamily="34" charset="0"/>
              </a:rPr>
              <a:t> market share.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OLA has the highest market share.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B62A7E-0201-4077-8437-3355D6C35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27" y="3343994"/>
            <a:ext cx="5695003" cy="277474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3083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B041B-4960-429D-88C5-A45E25473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25" y="573939"/>
            <a:ext cx="10878101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sz="2667" b="1" u="sng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</a:rPr>
              <a:t>Detailed List of Exploratory Data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F20A1-8522-4ACC-BA59-B06B08BBB227}"/>
              </a:ext>
            </a:extLst>
          </p:cNvPr>
          <p:cNvSpPr txBox="1"/>
          <p:nvPr/>
        </p:nvSpPr>
        <p:spPr>
          <a:xfrm>
            <a:off x="656948" y="1089768"/>
            <a:ext cx="114935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KPI’s (what we measure)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Market </a:t>
            </a:r>
            <a:r>
              <a:rPr lang="en-US" altLang="en-US" b="1" dirty="0" err="1"/>
              <a:t>kpi’s</a:t>
            </a:r>
            <a:r>
              <a:rPr lang="en-US" altLang="en-US" b="1" dirty="0"/>
              <a:t> :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Total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ev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registrations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YoY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ev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growth rate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Category group market share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2W penetration rate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Peak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ev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registration year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000000"/>
              </a:solidFill>
              <a:latin typeface="Helvetica Neu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Maker </a:t>
            </a:r>
            <a:r>
              <a:rPr lang="en-US" altLang="en-US" b="1" dirty="0" err="1"/>
              <a:t>kpi’s</a:t>
            </a:r>
            <a:r>
              <a:rPr lang="en-US" altLang="en-US" b="1" dirty="0"/>
              <a:t> 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Top manufacturer (current year)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Maker market share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Best selling category for maker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Total makers active in market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New makers added this year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000000"/>
              </a:solidFill>
              <a:latin typeface="Helvetica Neu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Geographic </a:t>
            </a:r>
            <a:r>
              <a:rPr lang="en-US" altLang="en-US" b="1" dirty="0" err="1"/>
              <a:t>kpi’s</a:t>
            </a:r>
            <a:r>
              <a:rPr lang="en-US" altLang="en-US" b="1" dirty="0"/>
              <a:t> 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Top state by maker presence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Cities with highest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ev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sales</a:t>
            </a:r>
            <a:r>
              <a:rPr lang="en-US" altLang="en-US" b="1" dirty="0">
                <a:solidFill>
                  <a:srgbClr val="000000"/>
                </a:solidFill>
                <a:latin typeface="Helvetica Neue"/>
              </a:rPr>
              <a:t>.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50496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A898A1-BEC3-40A1-9335-442E2B984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63" y="666598"/>
            <a:ext cx="10878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b="1" u="sng" dirty="0" err="1">
                <a:latin typeface="Arial" panose="020B0604020202020204" pitchFamily="34" charset="0"/>
                <a:sym typeface="Arial"/>
              </a:rPr>
              <a:t>Kra’s</a:t>
            </a:r>
            <a:r>
              <a:rPr lang="en-IN" altLang="en-US" b="1" u="sng" dirty="0">
                <a:latin typeface="Arial" panose="020B0604020202020204" pitchFamily="34" charset="0"/>
                <a:sym typeface="Arial"/>
              </a:rPr>
              <a:t> (key result areas)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9C74E-4180-4F03-85B6-9E84F9130C2F}"/>
              </a:ext>
            </a:extLst>
          </p:cNvPr>
          <p:cNvSpPr txBox="1"/>
          <p:nvPr/>
        </p:nvSpPr>
        <p:spPr>
          <a:xfrm>
            <a:off x="708463" y="1035930"/>
            <a:ext cx="111883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/>
              <a:t>Market performance </a:t>
            </a:r>
            <a:r>
              <a:rPr lang="en-US" altLang="en-US" b="1" dirty="0" err="1"/>
              <a:t>kra’s</a:t>
            </a:r>
            <a:r>
              <a:rPr lang="en-US" altLang="en-US" b="1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Overall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ev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market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Adoption of major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ev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Transition from traditional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r>
              <a:rPr lang="en-US" altLang="en-US" b="1" dirty="0"/>
              <a:t>Manufacturer performance </a:t>
            </a:r>
            <a:r>
              <a:rPr lang="en-US" altLang="en-US" b="1" dirty="0" err="1"/>
              <a:t>kra’s</a:t>
            </a:r>
            <a:r>
              <a:rPr lang="en-US" altLang="en-US" b="1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Maker sales performance by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Maker category specialization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Maker competitive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r>
              <a:rPr lang="en-US" altLang="en-US" b="1" dirty="0"/>
              <a:t>Geographic </a:t>
            </a:r>
            <a:r>
              <a:rPr lang="en-US" altLang="en-US" b="1" dirty="0" err="1"/>
              <a:t>kra’s</a:t>
            </a:r>
            <a:r>
              <a:rPr lang="en-US" altLang="en-US" b="1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Expansion of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ev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manufacturing hubs.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Geographic distribution of production capacity</a:t>
            </a:r>
            <a:r>
              <a:rPr lang="en-US" altLang="en-US" b="1" dirty="0"/>
              <a:t>.</a:t>
            </a:r>
          </a:p>
          <a:p>
            <a:endParaRPr lang="en-US" altLang="en-US" b="1" dirty="0"/>
          </a:p>
          <a:p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031795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2C0410-BDCE-4911-98D8-FF30869C4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63" y="666598"/>
            <a:ext cx="10878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b="1" u="sng" dirty="0" err="1">
                <a:latin typeface="Arial" panose="020B0604020202020204" pitchFamily="34" charset="0"/>
                <a:sym typeface="Arial"/>
              </a:rPr>
              <a:t>Kri’s</a:t>
            </a:r>
            <a:r>
              <a:rPr lang="en-IN" altLang="en-US" b="1" u="sng" dirty="0">
                <a:latin typeface="Arial" panose="020B0604020202020204" pitchFamily="34" charset="0"/>
                <a:sym typeface="Arial"/>
              </a:rPr>
              <a:t> (key risk </a:t>
            </a:r>
            <a:r>
              <a:rPr lang="en-IN" altLang="en-US" b="1" u="sng" dirty="0" err="1">
                <a:latin typeface="Arial" panose="020B0604020202020204" pitchFamily="34" charset="0"/>
                <a:sym typeface="Arial"/>
              </a:rPr>
              <a:t>indiacators</a:t>
            </a:r>
            <a:r>
              <a:rPr lang="en-IN" altLang="en-US" b="1" u="sng" dirty="0">
                <a:latin typeface="Arial" panose="020B0604020202020204" pitchFamily="34" charset="0"/>
                <a:sym typeface="Arial"/>
              </a:rPr>
              <a:t>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D46F2-553D-411B-B1AD-86958B12487E}"/>
              </a:ext>
            </a:extLst>
          </p:cNvPr>
          <p:cNvSpPr txBox="1"/>
          <p:nvPr/>
        </p:nvSpPr>
        <p:spPr>
          <a:xfrm>
            <a:off x="708463" y="1035930"/>
            <a:ext cx="111883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/>
              <a:t>Market risk </a:t>
            </a:r>
            <a:r>
              <a:rPr lang="en-US" altLang="en-US" b="1" dirty="0" err="1"/>
              <a:t>kri’s</a:t>
            </a:r>
            <a:r>
              <a:rPr lang="en-US" altLang="en-US" b="1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Heavy dependence on 2W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Limited adoption of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lmv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mmv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Market concentration risk</a:t>
            </a:r>
            <a:r>
              <a:rPr lang="en-US" altLang="en-US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r>
              <a:rPr lang="en-US" altLang="en-US" b="1" dirty="0"/>
              <a:t>Analytical risks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Missing state level sales data (only HQ data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Over representation of certain makers or years.</a:t>
            </a:r>
          </a:p>
          <a:p>
            <a:endParaRPr lang="en-US" altLang="en-US" b="1" dirty="0"/>
          </a:p>
          <a:p>
            <a:r>
              <a:rPr lang="en-US" altLang="en-US" b="1" u="sng" dirty="0">
                <a:latin typeface="Arial" panose="020B0604020202020204" pitchFamily="34" charset="0"/>
              </a:rPr>
              <a:t>Descriptive analyses (what is happening)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15643-386B-48E8-A09A-F744B6BB539C}"/>
              </a:ext>
            </a:extLst>
          </p:cNvPr>
          <p:cNvSpPr txBox="1"/>
          <p:nvPr/>
        </p:nvSpPr>
        <p:spPr>
          <a:xfrm>
            <a:off x="708463" y="3898252"/>
            <a:ext cx="43717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Market descriptive analyses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Yearly total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ev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registrations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Category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Sales contribution by raw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Maker count and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Category group composition over time</a:t>
            </a:r>
          </a:p>
        </p:txBody>
      </p:sp>
    </p:spTree>
    <p:extLst>
      <p:ext uri="{BB962C8B-B14F-4D97-AF65-F5344CB8AC3E}">
        <p14:creationId xmlns:p14="http://schemas.microsoft.com/office/powerpoint/2010/main" val="3083009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F33534-961E-46BD-8672-FB50CA363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63" y="666598"/>
            <a:ext cx="10878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b="1" dirty="0">
                <a:sym typeface="Arial"/>
              </a:rPr>
              <a:t>Maker descriptive analyses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5B40B-7865-4E8D-AE4E-94D04312BA3D}"/>
              </a:ext>
            </a:extLst>
          </p:cNvPr>
          <p:cNvSpPr txBox="1"/>
          <p:nvPr/>
        </p:nvSpPr>
        <p:spPr>
          <a:xfrm>
            <a:off x="708463" y="1035930"/>
            <a:ext cx="111883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Total sales per maker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Best maker per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Maker category mix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Maker entry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Maker geographic presence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000000"/>
              </a:solidFill>
              <a:latin typeface="Helvetica Neue"/>
            </a:endParaRPr>
          </a:p>
          <a:p>
            <a:r>
              <a:rPr lang="en-US" altLang="en-US" b="1" dirty="0"/>
              <a:t>Geographic descriptive analyses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States with highest number of manufacturers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City level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Regional 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000000"/>
              </a:solidFill>
              <a:latin typeface="Helvetica Neue"/>
            </a:endParaRPr>
          </a:p>
          <a:p>
            <a:r>
              <a:rPr lang="en-US" altLang="en-US" b="1" u="sng" dirty="0">
                <a:latin typeface="Arial" panose="020B0604020202020204" pitchFamily="34" charset="0"/>
              </a:rPr>
              <a:t>Diagnostic analyses (why is it happening)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098E5-4195-4C16-AE45-0700C4A548F0}"/>
              </a:ext>
            </a:extLst>
          </p:cNvPr>
          <p:cNvSpPr txBox="1"/>
          <p:nvPr/>
        </p:nvSpPr>
        <p:spPr>
          <a:xfrm>
            <a:off x="708463" y="4452250"/>
            <a:ext cx="65261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Market diagnostic analyses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Why 2W dominates the market(affordability ,urban use)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Why 3W </a:t>
            </a:r>
            <a:r>
              <a:rPr lang="en-US" dirty="0" err="1">
                <a:solidFill>
                  <a:srgbClr val="000000"/>
                </a:solidFill>
                <a:latin typeface="Helvetica Neue"/>
              </a:rPr>
              <a:t>evs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 grew early (e-rickshaw demand in tier 2 cities)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Why growth surged after 2021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8823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90A46-F8C4-4724-8EE8-E5DE10A91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63" y="666598"/>
            <a:ext cx="10878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IN" altLang="en-US" b="1" dirty="0">
                <a:sym typeface="Arial"/>
              </a:rPr>
              <a:t>Maker diagnostic analyses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D5DBD-384F-4B5D-8E51-BF6948589D84}"/>
              </a:ext>
            </a:extLst>
          </p:cNvPr>
          <p:cNvSpPr txBox="1"/>
          <p:nvPr/>
        </p:nvSpPr>
        <p:spPr>
          <a:xfrm>
            <a:off x="708463" y="1035930"/>
            <a:ext cx="111883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Why certain makers lead in specific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Why new entrants spike post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Why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lmv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mmv sales remain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rgbClr val="000000"/>
              </a:solidFill>
              <a:latin typeface="Helvetica Neue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Geographic diagnostic analyses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Why states like Tamil Nadu, Karnataka lead manufacturing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Why tier 1 cities host more </a:t>
            </a:r>
            <a:r>
              <a:rPr lang="en-US" altLang="en-US" dirty="0" err="1">
                <a:solidFill>
                  <a:srgbClr val="000000"/>
                </a:solidFill>
                <a:latin typeface="Helvetica Neue"/>
              </a:rPr>
              <a:t>ev</a:t>
            </a:r>
            <a:r>
              <a:rPr lang="en-US" altLang="en-US" dirty="0">
                <a:solidFill>
                  <a:srgbClr val="000000"/>
                </a:solidFill>
                <a:latin typeface="Helvetica Neue"/>
              </a:rPr>
              <a:t> startups</a:t>
            </a:r>
          </a:p>
        </p:txBody>
      </p:sp>
    </p:spTree>
    <p:extLst>
      <p:ext uri="{BB962C8B-B14F-4D97-AF65-F5344CB8AC3E}">
        <p14:creationId xmlns:p14="http://schemas.microsoft.com/office/powerpoint/2010/main" val="2705901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4DC5B-537F-417E-B5FD-B0A698EA2032}"/>
              </a:ext>
            </a:extLst>
          </p:cNvPr>
          <p:cNvSpPr txBox="1"/>
          <p:nvPr/>
        </p:nvSpPr>
        <p:spPr>
          <a:xfrm>
            <a:off x="578571" y="606442"/>
            <a:ext cx="114935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EV market360 dashboard layout</a:t>
            </a:r>
          </a:p>
          <a:p>
            <a:r>
              <a:rPr lang="en-US" b="1" u="sng" dirty="0"/>
              <a:t>Objective</a:t>
            </a:r>
          </a:p>
          <a:p>
            <a:r>
              <a:rPr lang="en-IN" sz="1800" dirty="0"/>
              <a:t>Understand</a:t>
            </a:r>
            <a:r>
              <a:rPr lang="en-US" sz="1800" dirty="0"/>
              <a:t> th</a:t>
            </a:r>
            <a:r>
              <a:rPr lang="en-US" dirty="0"/>
              <a:t>e overall </a:t>
            </a:r>
            <a:r>
              <a:rPr lang="en-US" dirty="0" err="1"/>
              <a:t>ev</a:t>
            </a:r>
            <a:r>
              <a:rPr lang="en-US" dirty="0"/>
              <a:t> market trend in India, category performance, yearly growth and how different categories contribute to the industry.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83742D-F3FE-4DD4-B0E7-C7C8BFAE0C96}"/>
              </a:ext>
            </a:extLst>
          </p:cNvPr>
          <p:cNvSpPr/>
          <p:nvPr/>
        </p:nvSpPr>
        <p:spPr>
          <a:xfrm>
            <a:off x="684245" y="2090057"/>
            <a:ext cx="1735494" cy="510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3980B-0537-4C2D-B8AA-D1A0D2C7F6DB}"/>
              </a:ext>
            </a:extLst>
          </p:cNvPr>
          <p:cNvSpPr/>
          <p:nvPr/>
        </p:nvSpPr>
        <p:spPr>
          <a:xfrm>
            <a:off x="2419739" y="2090057"/>
            <a:ext cx="9206204" cy="510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A713B-7FBC-47D5-AE43-7F500A7237C1}"/>
              </a:ext>
            </a:extLst>
          </p:cNvPr>
          <p:cNvSpPr/>
          <p:nvPr/>
        </p:nvSpPr>
        <p:spPr>
          <a:xfrm>
            <a:off x="684245" y="2600131"/>
            <a:ext cx="10947918" cy="5722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KPI’s=Total </a:t>
            </a:r>
            <a:r>
              <a:rPr lang="en-US" dirty="0" err="1"/>
              <a:t>ev</a:t>
            </a:r>
            <a:r>
              <a:rPr lang="en-US" dirty="0"/>
              <a:t> registrations, YoY growth %, top category (by volume), market share of 2W(%), total active manufacturers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B0A5B-25AD-43AE-B77C-1F6140179643}"/>
              </a:ext>
            </a:extLst>
          </p:cNvPr>
          <p:cNvSpPr/>
          <p:nvPr/>
        </p:nvSpPr>
        <p:spPr>
          <a:xfrm>
            <a:off x="684245" y="3172408"/>
            <a:ext cx="2133600" cy="3033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Slicers :</a:t>
            </a:r>
          </a:p>
          <a:p>
            <a:pPr algn="ctr"/>
            <a:r>
              <a:rPr lang="en-US" dirty="0"/>
              <a:t>Year, category group, raw category, maker, state(HQ)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54C34B-E9EF-4719-83AD-0F896E0ABF1F}"/>
              </a:ext>
            </a:extLst>
          </p:cNvPr>
          <p:cNvSpPr/>
          <p:nvPr/>
        </p:nvSpPr>
        <p:spPr>
          <a:xfrm>
            <a:off x="2817845" y="3172408"/>
            <a:ext cx="8808098" cy="3033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Charts ;</a:t>
            </a:r>
          </a:p>
          <a:p>
            <a:pPr algn="ctr"/>
            <a:r>
              <a:rPr lang="en-US" dirty="0"/>
              <a:t>Yearly </a:t>
            </a:r>
            <a:r>
              <a:rPr lang="en-US" dirty="0" err="1"/>
              <a:t>ev</a:t>
            </a:r>
            <a:r>
              <a:rPr lang="en-US" dirty="0"/>
              <a:t> registration trend – line chart</a:t>
            </a:r>
          </a:p>
          <a:p>
            <a:pPr algn="ctr"/>
            <a:r>
              <a:rPr lang="en-US" dirty="0"/>
              <a:t>Category contribution – stacked bar chart</a:t>
            </a:r>
          </a:p>
          <a:p>
            <a:pPr algn="ctr"/>
            <a:r>
              <a:rPr lang="en-US" dirty="0"/>
              <a:t>Category growth YoY – area chart</a:t>
            </a:r>
          </a:p>
          <a:p>
            <a:pPr algn="ctr"/>
            <a:r>
              <a:rPr lang="en-US" dirty="0"/>
              <a:t>Best maker per year – column chart</a:t>
            </a:r>
          </a:p>
          <a:p>
            <a:pPr algn="ctr"/>
            <a:r>
              <a:rPr lang="en-US" dirty="0"/>
              <a:t>Maker sales distribution – bar chart</a:t>
            </a:r>
          </a:p>
          <a:p>
            <a:pPr algn="ctr"/>
            <a:r>
              <a:rPr lang="en-US" dirty="0" err="1"/>
              <a:t>Ev</a:t>
            </a:r>
            <a:r>
              <a:rPr lang="en-US" dirty="0"/>
              <a:t> manufacturing density map – heat map</a:t>
            </a:r>
          </a:p>
        </p:txBody>
      </p:sp>
    </p:spTree>
    <p:extLst>
      <p:ext uri="{BB962C8B-B14F-4D97-AF65-F5344CB8AC3E}">
        <p14:creationId xmlns:p14="http://schemas.microsoft.com/office/powerpoint/2010/main" val="1167135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DAD6FB-2960-426C-BA31-C274A5D2753D}"/>
              </a:ext>
            </a:extLst>
          </p:cNvPr>
          <p:cNvSpPr txBox="1"/>
          <p:nvPr/>
        </p:nvSpPr>
        <p:spPr>
          <a:xfrm>
            <a:off x="578571" y="606442"/>
            <a:ext cx="11493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Manufacturer (Maker)360 dashboard layout</a:t>
            </a:r>
          </a:p>
          <a:p>
            <a:r>
              <a:rPr lang="en-US" b="1" u="sng" dirty="0"/>
              <a:t>Objective</a:t>
            </a:r>
          </a:p>
          <a:p>
            <a:r>
              <a:rPr lang="en-IN" sz="1800" dirty="0"/>
              <a:t>Understand</a:t>
            </a:r>
            <a:r>
              <a:rPr lang="en-US" sz="1800" dirty="0"/>
              <a:t> manufacturer performance, category specialization, market leadership and geographic presence.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098BAB-FC7E-4179-BD0F-B8EAB2DB0F5B}"/>
              </a:ext>
            </a:extLst>
          </p:cNvPr>
          <p:cNvSpPr/>
          <p:nvPr/>
        </p:nvSpPr>
        <p:spPr>
          <a:xfrm>
            <a:off x="684245" y="2090057"/>
            <a:ext cx="1735494" cy="510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ED366-F5E9-4863-9FB8-C9236A9F5104}"/>
              </a:ext>
            </a:extLst>
          </p:cNvPr>
          <p:cNvSpPr/>
          <p:nvPr/>
        </p:nvSpPr>
        <p:spPr>
          <a:xfrm>
            <a:off x="2419739" y="2090057"/>
            <a:ext cx="9206204" cy="510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7B4E2-27B6-4BE6-9F4E-4828326FCE05}"/>
              </a:ext>
            </a:extLst>
          </p:cNvPr>
          <p:cNvSpPr/>
          <p:nvPr/>
        </p:nvSpPr>
        <p:spPr>
          <a:xfrm>
            <a:off x="684245" y="2600131"/>
            <a:ext cx="10947918" cy="5722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KPI’s=Total makers, top maker of the year, new makers of this year, top category for maker, maker market share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6D1995-2CB1-449C-8A1C-7F1F1896D4DA}"/>
              </a:ext>
            </a:extLst>
          </p:cNvPr>
          <p:cNvSpPr/>
          <p:nvPr/>
        </p:nvSpPr>
        <p:spPr>
          <a:xfrm>
            <a:off x="684245" y="3172408"/>
            <a:ext cx="2133600" cy="3033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Slicers :</a:t>
            </a:r>
          </a:p>
          <a:p>
            <a:pPr algn="ctr"/>
            <a:r>
              <a:rPr lang="en-US" dirty="0"/>
              <a:t>Year, category group, raw category, maker, state(HQ)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B0E8E-922D-4BA1-91ED-13AECD6D52B3}"/>
              </a:ext>
            </a:extLst>
          </p:cNvPr>
          <p:cNvSpPr/>
          <p:nvPr/>
        </p:nvSpPr>
        <p:spPr>
          <a:xfrm>
            <a:off x="2817845" y="3172408"/>
            <a:ext cx="8808098" cy="3033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Charts ;</a:t>
            </a:r>
          </a:p>
          <a:p>
            <a:pPr algn="ctr"/>
            <a:r>
              <a:rPr lang="en-US" dirty="0"/>
              <a:t>Maker performance over time – line chart</a:t>
            </a:r>
          </a:p>
          <a:p>
            <a:pPr algn="ctr"/>
            <a:r>
              <a:rPr lang="en-US" dirty="0"/>
              <a:t>Maker category mix – donut chart</a:t>
            </a:r>
          </a:p>
          <a:p>
            <a:pPr algn="ctr"/>
            <a:r>
              <a:rPr lang="en-US" dirty="0"/>
              <a:t>Market share comparison – bar chart</a:t>
            </a:r>
          </a:p>
          <a:p>
            <a:pPr algn="ctr"/>
            <a:r>
              <a:rPr lang="en-US" dirty="0"/>
              <a:t>Maker entry timeline – bar chart</a:t>
            </a:r>
          </a:p>
          <a:p>
            <a:pPr algn="ctr"/>
            <a:r>
              <a:rPr lang="en-US" dirty="0"/>
              <a:t>state presence heatmap - table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90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 fontScale="92500" lnSpcReduction="10000"/>
          </a:bodyPr>
          <a:lstStyle/>
          <a:p>
            <a:pPr marL="609585" indent="-457189"/>
            <a:r>
              <a:rPr lang="en-US" sz="64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20959</TotalTime>
  <Words>1608</Words>
  <Application>Microsoft Office PowerPoint</Application>
  <PresentationFormat>Widescreen</PresentationFormat>
  <Paragraphs>303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Baskerville</vt:lpstr>
      <vt:lpstr>Calibri</vt:lpstr>
      <vt:lpstr>Helvetica Neue</vt:lpstr>
      <vt:lpstr>Open Sans</vt:lpstr>
      <vt:lpstr>PT Sans Narrow</vt:lpstr>
      <vt:lpstr>Raleway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athuldas</cp:lastModifiedBy>
  <cp:revision>129</cp:revision>
  <dcterms:created xsi:type="dcterms:W3CDTF">2025-04-04T02:52:34Z</dcterms:created>
  <dcterms:modified xsi:type="dcterms:W3CDTF">2025-12-17T05:50:28Z</dcterms:modified>
</cp:coreProperties>
</file>